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53" r:id="rId2"/>
  </p:sldMasterIdLst>
  <p:notesMasterIdLst>
    <p:notesMasterId r:id="rId17"/>
  </p:notesMasterIdLst>
  <p:sldIdLst>
    <p:sldId id="256" r:id="rId3"/>
    <p:sldId id="258" r:id="rId4"/>
    <p:sldId id="261" r:id="rId5"/>
    <p:sldId id="269" r:id="rId6"/>
    <p:sldId id="259" r:id="rId7"/>
    <p:sldId id="262" r:id="rId8"/>
    <p:sldId id="263" r:id="rId9"/>
    <p:sldId id="265" r:id="rId10"/>
    <p:sldId id="268" r:id="rId11"/>
    <p:sldId id="266" r:id="rId12"/>
    <p:sldId id="270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7" autoAdjust="0"/>
    <p:restoredTop sz="90929"/>
  </p:normalViewPr>
  <p:slideViewPr>
    <p:cSldViewPr>
      <p:cViewPr varScale="1">
        <p:scale>
          <a:sx n="83" d="100"/>
          <a:sy n="83" d="100"/>
        </p:scale>
        <p:origin x="1430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it-IT" alt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BC22574-4AA5-4BF4-955E-15629EE72EBD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737033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69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3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55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6200" y="1339850"/>
            <a:ext cx="39624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191000" y="1339850"/>
            <a:ext cx="3962400" cy="4114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6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0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9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05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62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72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83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162675" y="-241300"/>
            <a:ext cx="2028825" cy="56959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6200" y="-241300"/>
            <a:ext cx="5934075" cy="56959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02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D_PP_cover_3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866900" y="3162300"/>
            <a:ext cx="7124700" cy="685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 altLang="en-US" noProof="0"/>
              <a:t>Fare clic per modificare stile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85950" y="2743200"/>
            <a:ext cx="6883400" cy="419100"/>
          </a:xfr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it-IT" altLang="en-US" noProof="0"/>
              <a:t>Fare clic per modificare lo stile del sottotitolo dello schema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828800" y="1219200"/>
            <a:ext cx="6838950" cy="1066800"/>
          </a:xfrm>
        </p:spPr>
        <p:txBody>
          <a:bodyPr/>
          <a:lstStyle>
            <a:lvl1pPr>
              <a:defRPr sz="2000"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312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35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892300" y="3048000"/>
            <a:ext cx="3171825" cy="2743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216525" y="3048000"/>
            <a:ext cx="3171825" cy="2743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923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75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401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piè di pa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70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7713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331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74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757988" y="2260600"/>
            <a:ext cx="1630362" cy="35306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866900" y="2260600"/>
            <a:ext cx="4738688" cy="35306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48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_PP_basic_bianco_3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-2413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stile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339850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02400" y="6356350"/>
            <a:ext cx="256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rgbClr val="1721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071B5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71B50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rgbClr val="42424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rgbClr val="42424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ern="1200">
          <a:solidFill>
            <a:srgbClr val="42424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 kern="1200">
          <a:solidFill>
            <a:srgbClr val="42424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kern="1200">
          <a:solidFill>
            <a:srgbClr val="42424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D_PP_sezione_3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866900" y="2260600"/>
            <a:ext cx="621665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stile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92300" y="3048000"/>
            <a:ext cx="64960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02400" y="635635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it-IT" altLang="en-US"/>
              <a:t>DIGITARE NOME DIPARTIMENTO                                           SECONDA RIGA NOME DIPARTIMENTO                                          TERZA RIGA NOME DIPARTIMENTO</a:t>
            </a:r>
            <a:endParaRPr lang="it-IT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i="1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1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altLang="en-US" sz="1400" dirty="0">
                <a:solidFill>
                  <a:srgbClr val="FFFF00"/>
                </a:solidFill>
                <a:latin typeface="Arial" panose="020B0604020202020204" pitchFamily="34" charset="0"/>
              </a:rPr>
              <a:t>Simone Corbetta                                      simone.corbetta1@studenti.unimi.it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8500" y="3086100"/>
            <a:ext cx="7124700" cy="685800"/>
          </a:xfrm>
        </p:spPr>
        <p:txBody>
          <a:bodyPr/>
          <a:lstStyle/>
          <a:p>
            <a:r>
              <a:rPr lang="en-US" altLang="en-US" dirty="0"/>
              <a:t> CHIP-SEQ ANALYSIS OF ATF5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06575" y="4718996"/>
            <a:ext cx="6883400" cy="419100"/>
          </a:xfrm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piè di pa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br>
              <a:rPr lang="it-IT" altLang="en-US" dirty="0"/>
            </a:br>
            <a:r>
              <a:rPr lang="it-IT" altLang="en-US" dirty="0"/>
              <a:t>ANNO ACCADEMICO  23/24</a:t>
            </a:r>
            <a:endParaRPr lang="it-IT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ATF5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926" y="901700"/>
            <a:ext cx="8077200" cy="4114800"/>
          </a:xfrm>
        </p:spPr>
        <p:txBody>
          <a:bodyPr/>
          <a:lstStyle/>
          <a:p>
            <a:r>
              <a:rPr lang="en-GB" sz="1400" kern="1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ATF5 consists of 282 aa with MW of 31 </a:t>
            </a:r>
            <a:r>
              <a:rPr lang="en-GB" sz="1400" kern="10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kDa</a:t>
            </a:r>
            <a:endParaRPr lang="en-GB" sz="1400" kern="1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ATF5 is a member of basic-region leucine zipper (</a:t>
            </a:r>
            <a:r>
              <a:rPr lang="en-GB" sz="1400" dirty="0" err="1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bZIP</a:t>
            </a:r>
            <a:r>
              <a:rPr lang="en-GB" sz="1400" dirty="0">
                <a:solidFill>
                  <a:srgbClr val="21252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proteins family</a:t>
            </a:r>
          </a:p>
          <a:p>
            <a:r>
              <a:rPr lang="en-GB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ATF5 transcripts and protein are expressed in a wide variety of tissues, in particular, high expression of transcripts in liver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ATF5 is suggested to readily hetero- and homodimerize with transcription factors and is perceived to be quite promiscuous in its binding capabilities</a:t>
            </a:r>
            <a:endParaRPr lang="en-GB" sz="1400" b="0" i="0" dirty="0"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 dirty="0">
              <a:solidFill>
                <a:srgbClr val="212529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90B68-3A2C-D3B3-6B10-2A2D016A3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85" y="2399105"/>
            <a:ext cx="5328592" cy="1595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AAD133-2DAD-8EAA-17A3-2F04DF282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85" y="2399105"/>
            <a:ext cx="6440138" cy="22793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CE905-9AEE-7710-3B22-0836B91D35C8}"/>
              </a:ext>
            </a:extLst>
          </p:cNvPr>
          <p:cNvSpPr txBox="1"/>
          <p:nvPr/>
        </p:nvSpPr>
        <p:spPr>
          <a:xfrm>
            <a:off x="548924" y="5652559"/>
            <a:ext cx="6809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NCBI,gene</a:t>
            </a:r>
            <a:r>
              <a:rPr lang="en-GB" sz="14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9F37-4AF5-2B66-02D6-C72817D6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-31328"/>
            <a:ext cx="7886700" cy="1325563"/>
          </a:xfrm>
        </p:spPr>
        <p:txBody>
          <a:bodyPr/>
          <a:lstStyle/>
          <a:p>
            <a:r>
              <a:rPr lang="it-IT" dirty="0"/>
              <a:t>Quality Control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FDEC6-C137-828D-81A6-C52805B1F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2"/>
            <a:ext cx="3868737" cy="4268117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862D8-233A-097E-DE0E-391B11D64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1516B1-DD12-9E01-803E-E254BF8E9A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ACCADEMICO 2023-24</a:t>
            </a:r>
          </a:p>
          <a:p>
            <a:r>
              <a:rPr lang="it-IT" altLang="en-US" dirty="0"/>
              <a:t>                                </a:t>
            </a:r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91B62-D4DE-B257-43EC-F2B7B8337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823912"/>
          </a:xfrm>
        </p:spPr>
        <p:txBody>
          <a:bodyPr/>
          <a:lstStyle/>
          <a:p>
            <a:endParaRPr lang="it-IT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79EBD03-7284-186E-9AED-65FC587D1AC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82162083"/>
              </p:ext>
            </p:extLst>
          </p:nvPr>
        </p:nvGraphicFramePr>
        <p:xfrm>
          <a:off x="107504" y="980729"/>
          <a:ext cx="8960294" cy="489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42">
                  <a:extLst>
                    <a:ext uri="{9D8B030D-6E8A-4147-A177-3AD203B41FA5}">
                      <a16:colId xmlns:a16="http://schemas.microsoft.com/office/drawing/2014/main" val="3686167164"/>
                    </a:ext>
                  </a:extLst>
                </a:gridCol>
                <a:gridCol w="1280042">
                  <a:extLst>
                    <a:ext uri="{9D8B030D-6E8A-4147-A177-3AD203B41FA5}">
                      <a16:colId xmlns:a16="http://schemas.microsoft.com/office/drawing/2014/main" val="3001749653"/>
                    </a:ext>
                  </a:extLst>
                </a:gridCol>
                <a:gridCol w="1280042">
                  <a:extLst>
                    <a:ext uri="{9D8B030D-6E8A-4147-A177-3AD203B41FA5}">
                      <a16:colId xmlns:a16="http://schemas.microsoft.com/office/drawing/2014/main" val="323454699"/>
                    </a:ext>
                  </a:extLst>
                </a:gridCol>
                <a:gridCol w="1280042">
                  <a:extLst>
                    <a:ext uri="{9D8B030D-6E8A-4147-A177-3AD203B41FA5}">
                      <a16:colId xmlns:a16="http://schemas.microsoft.com/office/drawing/2014/main" val="2509041732"/>
                    </a:ext>
                  </a:extLst>
                </a:gridCol>
                <a:gridCol w="1280042">
                  <a:extLst>
                    <a:ext uri="{9D8B030D-6E8A-4147-A177-3AD203B41FA5}">
                      <a16:colId xmlns:a16="http://schemas.microsoft.com/office/drawing/2014/main" val="3512642140"/>
                    </a:ext>
                  </a:extLst>
                </a:gridCol>
                <a:gridCol w="1280042">
                  <a:extLst>
                    <a:ext uri="{9D8B030D-6E8A-4147-A177-3AD203B41FA5}">
                      <a16:colId xmlns:a16="http://schemas.microsoft.com/office/drawing/2014/main" val="3208711525"/>
                    </a:ext>
                  </a:extLst>
                </a:gridCol>
                <a:gridCol w="1280042">
                  <a:extLst>
                    <a:ext uri="{9D8B030D-6E8A-4147-A177-3AD203B41FA5}">
                      <a16:colId xmlns:a16="http://schemas.microsoft.com/office/drawing/2014/main" val="992434957"/>
                    </a:ext>
                  </a:extLst>
                </a:gridCol>
              </a:tblGrid>
              <a:tr h="1362175">
                <a:tc>
                  <a:txBody>
                    <a:bodyPr/>
                    <a:lstStyle/>
                    <a:p>
                      <a:r>
                        <a:rPr lang="it-IT" sz="1400" dirty="0"/>
                        <a:t>replicate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Original</a:t>
                      </a:r>
                      <a:r>
                        <a:rPr lang="it-IT" sz="1400" dirty="0"/>
                        <a:t> n of </a:t>
                      </a:r>
                      <a:r>
                        <a:rPr lang="it-IT" sz="1400" dirty="0" err="1"/>
                        <a:t>reads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 of reads after removing multimapping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%  uniquely mapping reads(with </a:t>
                      </a:r>
                      <a:r>
                        <a:rPr lang="en-GB" sz="1400" dirty="0" err="1"/>
                        <a:t>pcr</a:t>
                      </a:r>
                      <a:r>
                        <a:rPr lang="en-GB" sz="1400" dirty="0"/>
                        <a:t> amplicons)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number of reads after discarding </a:t>
                      </a:r>
                      <a:r>
                        <a:rPr lang="en-GB" sz="1400" dirty="0" err="1"/>
                        <a:t>pcr</a:t>
                      </a:r>
                      <a:r>
                        <a:rPr lang="en-GB" sz="1400" dirty="0"/>
                        <a:t> amplicons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Redundant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Fragment</a:t>
                      </a:r>
                      <a:r>
                        <a:rPr lang="it-IT" sz="1400" dirty="0"/>
                        <a:t> size (in </a:t>
                      </a:r>
                      <a:r>
                        <a:rPr lang="it-IT" sz="1400" dirty="0" err="1"/>
                        <a:t>bp</a:t>
                      </a:r>
                      <a:r>
                        <a:rPr lang="it-IT" sz="1400" dirty="0"/>
                        <a:t>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318610"/>
                  </a:ext>
                </a:extLst>
              </a:tr>
              <a:tr h="1178123">
                <a:tc>
                  <a:txBody>
                    <a:bodyPr/>
                    <a:lstStyle/>
                    <a:p>
                      <a:r>
                        <a:rPr lang="it-IT" dirty="0"/>
                        <a:t>REP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42651469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33088099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27306556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91461"/>
                  </a:ext>
                </a:extLst>
              </a:tr>
              <a:tr h="1178123">
                <a:tc>
                  <a:txBody>
                    <a:bodyPr/>
                    <a:lstStyle/>
                    <a:p>
                      <a:r>
                        <a:rPr lang="it-IT" dirty="0"/>
                        <a:t>REP 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34577115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27859576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23427153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47315"/>
                  </a:ext>
                </a:extLst>
              </a:tr>
              <a:tr h="1178123">
                <a:tc>
                  <a:txBody>
                    <a:bodyPr/>
                    <a:lstStyle/>
                    <a:p>
                      <a:r>
                        <a:rPr lang="it-IT" dirty="0"/>
                        <a:t>CONTROL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47230616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43420654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36813756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305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68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36345-AC1E-C49C-1F7F-9EBF259A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60648"/>
            <a:ext cx="7886700" cy="1136104"/>
          </a:xfrm>
        </p:spPr>
        <p:txBody>
          <a:bodyPr/>
          <a:lstStyle/>
          <a:p>
            <a:r>
              <a:rPr lang="it-IT" dirty="0" err="1"/>
              <a:t>Fragment</a:t>
            </a:r>
            <a:r>
              <a:rPr lang="it-IT" dirty="0"/>
              <a:t> size </a:t>
            </a:r>
            <a:r>
              <a:rPr lang="it-IT" dirty="0" err="1"/>
              <a:t>estimation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60FEE-9925-0146-647B-FBC6032F1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504" y="1048041"/>
            <a:ext cx="3868737" cy="823912"/>
          </a:xfrm>
        </p:spPr>
        <p:txBody>
          <a:bodyPr/>
          <a:lstStyle/>
          <a:p>
            <a:r>
              <a:rPr lang="it-IT" dirty="0"/>
              <a:t>REP 1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86AB54-6E8E-FBC6-F7E3-28DF7C319C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7504" y="1844331"/>
            <a:ext cx="2664296" cy="302483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82852-D52B-5204-C7E3-41CDE2384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9982" y="1432523"/>
            <a:ext cx="2153456" cy="457201"/>
          </a:xfrm>
        </p:spPr>
        <p:txBody>
          <a:bodyPr/>
          <a:lstStyle/>
          <a:p>
            <a:r>
              <a:rPr lang="it-IT" dirty="0"/>
              <a:t>REP 2</a:t>
            </a:r>
            <a:endParaRPr lang="en-GB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CCA2670-6C46-57D5-DE24-268A4552B1F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007202" y="2125495"/>
            <a:ext cx="2950697" cy="2743666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5DDB64-2F53-E9C9-3783-9F313D771D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/>
              <a:t>Bioinformatics for computational genomics</a:t>
            </a:r>
          </a:p>
          <a:p>
            <a:r>
              <a:rPr lang="it-IT" altLang="en-US"/>
              <a:t>ANNO ACCADEMICO 2023-24</a:t>
            </a:r>
            <a:endParaRPr lang="it-IT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5C84F-78BD-63F5-F961-54047DAF2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636" y="2204864"/>
            <a:ext cx="2950698" cy="2677367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8CA0FA4-F9EA-FC27-43C2-F22D9309763F}"/>
              </a:ext>
            </a:extLst>
          </p:cNvPr>
          <p:cNvSpPr txBox="1">
            <a:spLocks/>
          </p:cNvSpPr>
          <p:nvPr/>
        </p:nvSpPr>
        <p:spPr bwMode="auto">
          <a:xfrm>
            <a:off x="6796094" y="1387129"/>
            <a:ext cx="2153456" cy="45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 b="1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 b="1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 b="1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 b="1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MERGED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859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772E-5FD9-2681-E644-77CC43DD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Peaks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B7BA8-81A4-1983-FA1A-DA9A27F4C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502400" y="6356176"/>
            <a:ext cx="2565400" cy="457200"/>
          </a:xfrm>
        </p:spPr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ACCADEMICO 2023-24</a:t>
            </a:r>
          </a:p>
          <a:p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7D74F-A3C5-E6E5-8A57-CF7A3E65B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095922"/>
              </p:ext>
            </p:extLst>
          </p:nvPr>
        </p:nvGraphicFramePr>
        <p:xfrm>
          <a:off x="419100" y="1052736"/>
          <a:ext cx="8257356" cy="475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226">
                  <a:extLst>
                    <a:ext uri="{9D8B030D-6E8A-4147-A177-3AD203B41FA5}">
                      <a16:colId xmlns:a16="http://schemas.microsoft.com/office/drawing/2014/main" val="3766159206"/>
                    </a:ext>
                  </a:extLst>
                </a:gridCol>
                <a:gridCol w="1376226">
                  <a:extLst>
                    <a:ext uri="{9D8B030D-6E8A-4147-A177-3AD203B41FA5}">
                      <a16:colId xmlns:a16="http://schemas.microsoft.com/office/drawing/2014/main" val="2826159510"/>
                    </a:ext>
                  </a:extLst>
                </a:gridCol>
                <a:gridCol w="1376226">
                  <a:extLst>
                    <a:ext uri="{9D8B030D-6E8A-4147-A177-3AD203B41FA5}">
                      <a16:colId xmlns:a16="http://schemas.microsoft.com/office/drawing/2014/main" val="3423964069"/>
                    </a:ext>
                  </a:extLst>
                </a:gridCol>
                <a:gridCol w="1376226">
                  <a:extLst>
                    <a:ext uri="{9D8B030D-6E8A-4147-A177-3AD203B41FA5}">
                      <a16:colId xmlns:a16="http://schemas.microsoft.com/office/drawing/2014/main" val="1659815753"/>
                    </a:ext>
                  </a:extLst>
                </a:gridCol>
                <a:gridCol w="1376226">
                  <a:extLst>
                    <a:ext uri="{9D8B030D-6E8A-4147-A177-3AD203B41FA5}">
                      <a16:colId xmlns:a16="http://schemas.microsoft.com/office/drawing/2014/main" val="2730586905"/>
                    </a:ext>
                  </a:extLst>
                </a:gridCol>
                <a:gridCol w="1376226">
                  <a:extLst>
                    <a:ext uri="{9D8B030D-6E8A-4147-A177-3AD203B41FA5}">
                      <a16:colId xmlns:a16="http://schemas.microsoft.com/office/drawing/2014/main" val="1540339572"/>
                    </a:ext>
                  </a:extLst>
                </a:gridCol>
              </a:tblGrid>
              <a:tr h="1188132">
                <a:tc>
                  <a:txBody>
                    <a:bodyPr/>
                    <a:lstStyle/>
                    <a:p>
                      <a:r>
                        <a:rPr lang="it-IT" dirty="0"/>
                        <a:t>Replicate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Before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removing</a:t>
                      </a:r>
                      <a:r>
                        <a:rPr lang="it-IT" sz="1400" dirty="0"/>
                        <a:t> non </a:t>
                      </a:r>
                      <a:r>
                        <a:rPr lang="it-IT" sz="1400" dirty="0" err="1"/>
                        <a:t>canonical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chr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After </a:t>
                      </a:r>
                      <a:r>
                        <a:rPr lang="it-IT" sz="1400" dirty="0" err="1"/>
                        <a:t>removing</a:t>
                      </a:r>
                      <a:r>
                        <a:rPr lang="it-IT" sz="1400" dirty="0"/>
                        <a:t> non </a:t>
                      </a:r>
                      <a:r>
                        <a:rPr lang="it-IT" sz="1400" dirty="0" err="1"/>
                        <a:t>canonical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chr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% of </a:t>
                      </a:r>
                      <a:r>
                        <a:rPr lang="it-IT" dirty="0" err="1"/>
                        <a:t>discarded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peaks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After </a:t>
                      </a:r>
                      <a:r>
                        <a:rPr lang="it-IT" sz="1400" dirty="0" err="1"/>
                        <a:t>removing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peaks</a:t>
                      </a:r>
                      <a:r>
                        <a:rPr lang="it-IT" sz="1400" dirty="0"/>
                        <a:t> in black list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% of </a:t>
                      </a:r>
                      <a:r>
                        <a:rPr lang="it-IT" sz="1400" dirty="0" err="1"/>
                        <a:t>discarded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peaks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845510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r>
                        <a:rPr lang="it-IT" dirty="0"/>
                        <a:t>REP1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41732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r>
                        <a:rPr lang="it-IT" dirty="0"/>
                        <a:t>REP2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079820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r>
                        <a:rPr lang="it-IT" dirty="0"/>
                        <a:t>MERGED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04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0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7C04-A9B0-A3AD-20C2-1BBF5FA2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My </a:t>
            </a:r>
            <a:r>
              <a:rPr lang="it-IT" dirty="0" err="1"/>
              <a:t>Peaks</a:t>
            </a:r>
            <a:r>
              <a:rPr lang="it-IT" dirty="0"/>
              <a:t> vs ENCODE </a:t>
            </a:r>
            <a:r>
              <a:rPr lang="it-IT" dirty="0" err="1"/>
              <a:t>results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33BC2-8C3C-B963-7E53-21854A7AB5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ACCADEMICO 2023-24</a:t>
            </a:r>
          </a:p>
          <a:p>
            <a:endParaRPr lang="it-IT" alt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3A99CA8F-21CD-BED1-B3FC-3F6C109C8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330429"/>
              </p:ext>
            </p:extLst>
          </p:nvPr>
        </p:nvGraphicFramePr>
        <p:xfrm>
          <a:off x="266700" y="1628800"/>
          <a:ext cx="8077200" cy="2953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628904227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64470714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59893129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92501318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988151677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171775982"/>
                    </a:ext>
                  </a:extLst>
                </a:gridCol>
              </a:tblGrid>
              <a:tr h="984415">
                <a:tc>
                  <a:txBody>
                    <a:bodyPr/>
                    <a:lstStyle/>
                    <a:p>
                      <a:r>
                        <a:rPr lang="it-IT" sz="1600" dirty="0" err="1"/>
                        <a:t>Criteria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REP1 </a:t>
                      </a:r>
                      <a:r>
                        <a:rPr lang="it-IT" sz="1600" dirty="0" err="1"/>
                        <a:t>intersect</a:t>
                      </a:r>
                      <a:r>
                        <a:rPr lang="it-IT" sz="1600" dirty="0"/>
                        <a:t> REP2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REP1 vs ENCODE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REP2 vs ENCODE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MERGED VS ENCODE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Intersection</a:t>
                      </a:r>
                      <a:r>
                        <a:rPr lang="it-IT" sz="1600" dirty="0"/>
                        <a:t>(rep1,rep2) vs ENCODE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238660"/>
                  </a:ext>
                </a:extLst>
              </a:tr>
              <a:tr h="984415">
                <a:tc>
                  <a:txBody>
                    <a:bodyPr/>
                    <a:lstStyle/>
                    <a:p>
                      <a:r>
                        <a:rPr lang="it-IT" sz="1400" dirty="0"/>
                        <a:t>Peak-</a:t>
                      </a:r>
                      <a:r>
                        <a:rPr lang="it-IT" sz="1400" dirty="0" err="1"/>
                        <a:t>overlapping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1277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330738"/>
                  </a:ext>
                </a:extLst>
              </a:tr>
              <a:tr h="984415">
                <a:tc>
                  <a:txBody>
                    <a:bodyPr/>
                    <a:lstStyle/>
                    <a:p>
                      <a:r>
                        <a:rPr lang="it-IT" sz="1400" dirty="0"/>
                        <a:t>Summit </a:t>
                      </a:r>
                      <a:r>
                        <a:rPr lang="it-IT" sz="1400" dirty="0" err="1"/>
                        <a:t>proximity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25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97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0BBA-52AE-2E86-17DE-60451655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Q-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 in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peaks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2BFDA-670E-1370-E256-044A988D74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ACCADEMIC0  2023-24</a:t>
            </a:r>
          </a:p>
        </p:txBody>
      </p:sp>
      <p:pic>
        <p:nvPicPr>
          <p:cNvPr id="12" name="Content Placeholder 11" descr="A graph with a blue line and black line&#10;&#10;Description automatically generated">
            <a:extLst>
              <a:ext uri="{FF2B5EF4-FFF2-40B4-BE49-F238E27FC236}">
                <a16:creationId xmlns:a16="http://schemas.microsoft.com/office/drawing/2014/main" id="{9DBBC607-7184-DE5F-03AC-EFC8D66311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0305"/>
            <a:ext cx="3168352" cy="1944216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5A1CE8-F298-3688-0590-F8F0DC5F04F7}"/>
              </a:ext>
            </a:extLst>
          </p:cNvPr>
          <p:cNvSpPr txBox="1"/>
          <p:nvPr/>
        </p:nvSpPr>
        <p:spPr>
          <a:xfrm>
            <a:off x="0" y="670867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REP1 vs ENCODE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628738-9FA1-1F12-F1F6-18FD96EB9EA0}"/>
              </a:ext>
            </a:extLst>
          </p:cNvPr>
          <p:cNvSpPr txBox="1"/>
          <p:nvPr/>
        </p:nvSpPr>
        <p:spPr>
          <a:xfrm>
            <a:off x="899592" y="3068499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peak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overlapping</a:t>
            </a:r>
            <a:endParaRPr lang="en-GB" sz="1400" dirty="0">
              <a:solidFill>
                <a:srgbClr val="C00000"/>
              </a:solidFill>
            </a:endParaRPr>
          </a:p>
        </p:txBody>
      </p:sp>
      <p:pic>
        <p:nvPicPr>
          <p:cNvPr id="19" name="Content Placeholder 18" descr="A graph of a graph with a blue line&#10;&#10;Description automatically generated with medium confidence">
            <a:extLst>
              <a:ext uri="{FF2B5EF4-FFF2-40B4-BE49-F238E27FC236}">
                <a16:creationId xmlns:a16="http://schemas.microsoft.com/office/drawing/2014/main" id="{0E99E41D-30BE-FF9A-7902-89981937A6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80" y="3642767"/>
            <a:ext cx="2915816" cy="1944216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3B5707-081A-6987-6768-C4A4062CEED5}"/>
              </a:ext>
            </a:extLst>
          </p:cNvPr>
          <p:cNvSpPr txBox="1"/>
          <p:nvPr/>
        </p:nvSpPr>
        <p:spPr>
          <a:xfrm>
            <a:off x="822480" y="5699585"/>
            <a:ext cx="177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Summit </a:t>
            </a:r>
            <a:r>
              <a:rPr lang="it-IT" sz="1400" dirty="0" err="1">
                <a:solidFill>
                  <a:srgbClr val="C00000"/>
                </a:solidFill>
              </a:rPr>
              <a:t>proximity</a:t>
            </a:r>
            <a:endParaRPr lang="en-GB" sz="1400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E1EC11-B17C-A469-F8C1-2B9CD9A1765C}"/>
              </a:ext>
            </a:extLst>
          </p:cNvPr>
          <p:cNvSpPr txBox="1"/>
          <p:nvPr/>
        </p:nvSpPr>
        <p:spPr>
          <a:xfrm>
            <a:off x="4516767" y="658640"/>
            <a:ext cx="4625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REP2 vs ENCODE</a:t>
            </a:r>
            <a:endParaRPr lang="en-GB" dirty="0"/>
          </a:p>
        </p:txBody>
      </p:sp>
      <p:pic>
        <p:nvPicPr>
          <p:cNvPr id="25" name="Picture 24" descr="A graph with a blue and black line&#10;&#10;Description automatically generated">
            <a:extLst>
              <a:ext uri="{FF2B5EF4-FFF2-40B4-BE49-F238E27FC236}">
                <a16:creationId xmlns:a16="http://schemas.microsoft.com/office/drawing/2014/main" id="{D37EED3F-BFD5-427D-5453-85662F8238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593" y="1195690"/>
            <a:ext cx="3009535" cy="182905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133F794-96BC-47E5-ECA0-8DF32780ED13}"/>
              </a:ext>
            </a:extLst>
          </p:cNvPr>
          <p:cNvSpPr txBox="1"/>
          <p:nvPr/>
        </p:nvSpPr>
        <p:spPr>
          <a:xfrm>
            <a:off x="5236967" y="3100133"/>
            <a:ext cx="1562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peak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overlapping</a:t>
            </a:r>
            <a:endParaRPr lang="en-GB" sz="1400" dirty="0">
              <a:solidFill>
                <a:srgbClr val="C00000"/>
              </a:solidFill>
            </a:endParaRPr>
          </a:p>
        </p:txBody>
      </p:sp>
      <p:pic>
        <p:nvPicPr>
          <p:cNvPr id="29" name="Picture 28" descr="A graph with a blue bar and black dots&#10;&#10;Description automatically generated">
            <a:extLst>
              <a:ext uri="{FF2B5EF4-FFF2-40B4-BE49-F238E27FC236}">
                <a16:creationId xmlns:a16="http://schemas.microsoft.com/office/drawing/2014/main" id="{F130BCD6-2DC6-7B9F-0C04-7452BF4E26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5" y="3642767"/>
            <a:ext cx="2915816" cy="19442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5E341FB-7CD2-4DC6-8E5D-5908F49D147E}"/>
              </a:ext>
            </a:extLst>
          </p:cNvPr>
          <p:cNvSpPr txBox="1"/>
          <p:nvPr/>
        </p:nvSpPr>
        <p:spPr>
          <a:xfrm>
            <a:off x="5287890" y="5699585"/>
            <a:ext cx="177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Summit </a:t>
            </a:r>
            <a:r>
              <a:rPr lang="it-IT" sz="1400" dirty="0" err="1">
                <a:solidFill>
                  <a:srgbClr val="C00000"/>
                </a:solidFill>
              </a:rPr>
              <a:t>proximity</a:t>
            </a:r>
            <a:endParaRPr lang="en-GB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72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13EF-DDDC-94CD-F02D-52832263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Q-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 in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peaks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3D63-0E4C-2C12-DFD7-81EB112C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548680"/>
            <a:ext cx="8857694" cy="5400600"/>
          </a:xfrm>
        </p:spPr>
        <p:txBody>
          <a:bodyPr/>
          <a:lstStyle/>
          <a:p>
            <a:pPr marL="0" indent="0">
              <a:buNone/>
            </a:pPr>
            <a:endParaRPr lang="en-GB" sz="1800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it-IT" sz="1800" dirty="0"/>
              <a:t>ERGED vs ENCODE</a:t>
            </a:r>
            <a:endParaRPr lang="en-GB" sz="1800" dirty="0"/>
          </a:p>
          <a:p>
            <a:pPr marL="0" indent="0">
              <a:buNone/>
            </a:pPr>
            <a:r>
              <a:rPr lang="it-IT" sz="1800" dirty="0" err="1">
                <a:solidFill>
                  <a:srgbClr val="C00000"/>
                </a:solidFill>
              </a:rPr>
              <a:t>peak</a:t>
            </a:r>
            <a:r>
              <a:rPr lang="it-IT" sz="1800" dirty="0">
                <a:solidFill>
                  <a:srgbClr val="C00000"/>
                </a:solidFill>
              </a:rPr>
              <a:t> </a:t>
            </a:r>
            <a:r>
              <a:rPr lang="it-IT" sz="1800" dirty="0" err="1">
                <a:solidFill>
                  <a:srgbClr val="C00000"/>
                </a:solidFill>
              </a:rPr>
              <a:t>overlapping</a:t>
            </a:r>
            <a:endParaRPr lang="en-GB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C00000"/>
                </a:solidFill>
              </a:rPr>
              <a:t>summit </a:t>
            </a:r>
            <a:r>
              <a:rPr lang="it-IT" sz="1800" dirty="0" err="1">
                <a:solidFill>
                  <a:srgbClr val="C00000"/>
                </a:solidFill>
              </a:rPr>
              <a:t>proximity</a:t>
            </a:r>
            <a:endParaRPr lang="en-GB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it-IT" sz="1800" dirty="0">
                <a:solidFill>
                  <a:srgbClr val="C00000"/>
                </a:solidFill>
              </a:rPr>
              <a:t>summit </a:t>
            </a:r>
            <a:r>
              <a:rPr lang="it-IT" sz="1800" dirty="0" err="1">
                <a:solidFill>
                  <a:srgbClr val="C00000"/>
                </a:solidFill>
              </a:rPr>
              <a:t>proximity</a:t>
            </a:r>
            <a:endParaRPr lang="en-GB" sz="18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E8EB-9C82-55AF-F611-4A2B4B132E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Accademico 2023-24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13781-81B7-64BF-3342-E6D71A99F876}"/>
              </a:ext>
            </a:extLst>
          </p:cNvPr>
          <p:cNvSpPr txBox="1"/>
          <p:nvPr/>
        </p:nvSpPr>
        <p:spPr>
          <a:xfrm>
            <a:off x="0" y="713127"/>
            <a:ext cx="3364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MERGED vs ENCODE</a:t>
            </a:r>
            <a:endParaRPr lang="en-GB" dirty="0"/>
          </a:p>
        </p:txBody>
      </p:sp>
      <p:pic>
        <p:nvPicPr>
          <p:cNvPr id="8" name="Picture 7" descr="A graph with a blue line&#10;&#10;Description automatically generated">
            <a:extLst>
              <a:ext uri="{FF2B5EF4-FFF2-40B4-BE49-F238E27FC236}">
                <a16:creationId xmlns:a16="http://schemas.microsoft.com/office/drawing/2014/main" id="{0F3BA390-D083-82AD-AE6C-E1DA20C6F4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192411"/>
            <a:ext cx="2808312" cy="20162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201182-6BEE-16E9-B1F0-2A3A9DDDB5BD}"/>
              </a:ext>
            </a:extLst>
          </p:cNvPr>
          <p:cNvSpPr txBox="1"/>
          <p:nvPr/>
        </p:nvSpPr>
        <p:spPr>
          <a:xfrm>
            <a:off x="916979" y="3153908"/>
            <a:ext cx="2304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peak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overlapping</a:t>
            </a:r>
            <a:endParaRPr lang="en-GB" sz="1400" dirty="0">
              <a:solidFill>
                <a:srgbClr val="C00000"/>
              </a:solidFill>
            </a:endParaRPr>
          </a:p>
        </p:txBody>
      </p:sp>
      <p:pic>
        <p:nvPicPr>
          <p:cNvPr id="12" name="Picture 11" descr="A graph with a blue line&#10;&#10;Description automatically generated">
            <a:extLst>
              <a:ext uri="{FF2B5EF4-FFF2-40B4-BE49-F238E27FC236}">
                <a16:creationId xmlns:a16="http://schemas.microsoft.com/office/drawing/2014/main" id="{3FBD5D59-A072-BF42-41CD-D72AC2B310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12" y="3461685"/>
            <a:ext cx="2692900" cy="22027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D66D46-61A2-4FFB-4BF7-AF32DDAE678C}"/>
              </a:ext>
            </a:extLst>
          </p:cNvPr>
          <p:cNvSpPr txBox="1"/>
          <p:nvPr/>
        </p:nvSpPr>
        <p:spPr>
          <a:xfrm>
            <a:off x="796859" y="5641503"/>
            <a:ext cx="151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summit </a:t>
            </a:r>
            <a:r>
              <a:rPr lang="it-IT" sz="1400" dirty="0" err="1">
                <a:solidFill>
                  <a:srgbClr val="C00000"/>
                </a:solidFill>
              </a:rPr>
              <a:t>proximity</a:t>
            </a:r>
            <a:endParaRPr lang="en-GB" sz="1400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798D0-36F7-AE07-0FE5-B8E936D7DC1B}"/>
              </a:ext>
            </a:extLst>
          </p:cNvPr>
          <p:cNvSpPr txBox="1"/>
          <p:nvPr/>
        </p:nvSpPr>
        <p:spPr>
          <a:xfrm>
            <a:off x="4860032" y="711953"/>
            <a:ext cx="396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REP1REP2 vs ENCODE</a:t>
            </a:r>
            <a:endParaRPr lang="en-GB" dirty="0"/>
          </a:p>
        </p:txBody>
      </p:sp>
      <p:pic>
        <p:nvPicPr>
          <p:cNvPr id="7" name="Picture 6" descr="A graph with a line graph and numbers&#10;&#10;Description automatically generated with medium confidence">
            <a:extLst>
              <a:ext uri="{FF2B5EF4-FFF2-40B4-BE49-F238E27FC236}">
                <a16:creationId xmlns:a16="http://schemas.microsoft.com/office/drawing/2014/main" id="{A840F5C6-3F1B-942A-F981-0987C679CC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319" y="1064974"/>
            <a:ext cx="2920065" cy="20458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95F8D2-7A9C-13EA-46FA-B1227387AE12}"/>
              </a:ext>
            </a:extLst>
          </p:cNvPr>
          <p:cNvSpPr txBox="1"/>
          <p:nvPr/>
        </p:nvSpPr>
        <p:spPr>
          <a:xfrm>
            <a:off x="5922767" y="3131552"/>
            <a:ext cx="1662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C00000"/>
                </a:solidFill>
              </a:rPr>
              <a:t>peak</a:t>
            </a:r>
            <a:r>
              <a:rPr lang="it-IT" sz="1400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overlapping</a:t>
            </a:r>
            <a:endParaRPr lang="en-GB" sz="1400" dirty="0">
              <a:solidFill>
                <a:srgbClr val="C00000"/>
              </a:solidFill>
            </a:endParaRPr>
          </a:p>
        </p:txBody>
      </p:sp>
      <p:pic>
        <p:nvPicPr>
          <p:cNvPr id="15" name="Picture 14" descr="A graph with a line graph and a line graph&#10;&#10;Description automatically generated with medium confidence">
            <a:extLst>
              <a:ext uri="{FF2B5EF4-FFF2-40B4-BE49-F238E27FC236}">
                <a16:creationId xmlns:a16="http://schemas.microsoft.com/office/drawing/2014/main" id="{29F26F84-94D2-864C-FFD6-6E6D2783EA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319" y="3552918"/>
            <a:ext cx="2977035" cy="20885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D0ACF7-D3E4-8BDE-D5D2-C5B7B9B60F95}"/>
              </a:ext>
            </a:extLst>
          </p:cNvPr>
          <p:cNvSpPr txBox="1"/>
          <p:nvPr/>
        </p:nvSpPr>
        <p:spPr>
          <a:xfrm>
            <a:off x="5743306" y="5611910"/>
            <a:ext cx="151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C00000"/>
                </a:solidFill>
              </a:rPr>
              <a:t>summit </a:t>
            </a:r>
            <a:r>
              <a:rPr lang="it-IT" sz="1400" dirty="0" err="1">
                <a:solidFill>
                  <a:srgbClr val="C00000"/>
                </a:solidFill>
              </a:rPr>
              <a:t>proximity</a:t>
            </a:r>
            <a:endParaRPr lang="en-GB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9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3889A-1975-1273-DD63-9A01190B2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-171400"/>
            <a:ext cx="7772400" cy="1143000"/>
          </a:xfrm>
        </p:spPr>
        <p:txBody>
          <a:bodyPr/>
          <a:lstStyle/>
          <a:p>
            <a:r>
              <a:rPr lang="it-IT" dirty="0"/>
              <a:t>Gene-</a:t>
            </a:r>
            <a:r>
              <a:rPr lang="it-IT" dirty="0" err="1"/>
              <a:t>peak</a:t>
            </a:r>
            <a:r>
              <a:rPr lang="it-IT" dirty="0"/>
              <a:t> </a:t>
            </a:r>
            <a:r>
              <a:rPr lang="it-IT" dirty="0" err="1"/>
              <a:t>association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F6E0B-3EDD-A311-22AC-1D0C76F58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ACCADEMICO 2023-24</a:t>
            </a:r>
          </a:p>
          <a:p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4F7CF63-FF0C-A51B-A320-88E45EEED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342609"/>
              </p:ext>
            </p:extLst>
          </p:nvPr>
        </p:nvGraphicFramePr>
        <p:xfrm>
          <a:off x="728316" y="2563629"/>
          <a:ext cx="7056784" cy="1100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1072660253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537855724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592598781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811320427"/>
                    </a:ext>
                  </a:extLst>
                </a:gridCol>
              </a:tblGrid>
              <a:tr h="550173">
                <a:tc>
                  <a:txBody>
                    <a:bodyPr/>
                    <a:lstStyle/>
                    <a:p>
                      <a:r>
                        <a:rPr lang="it-IT" dirty="0"/>
                        <a:t>1 </a:t>
                      </a:r>
                      <a:r>
                        <a:rPr lang="it-IT" dirty="0" err="1"/>
                        <a:t>kbp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1-5 </a:t>
                      </a:r>
                      <a:r>
                        <a:rPr lang="it-IT" dirty="0" err="1"/>
                        <a:t>kbp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5-50 </a:t>
                      </a:r>
                      <a:r>
                        <a:rPr lang="it-IT" dirty="0" err="1"/>
                        <a:t>kbp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50-500 </a:t>
                      </a:r>
                      <a:r>
                        <a:rPr lang="it-IT" dirty="0" err="1"/>
                        <a:t>kbp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30530"/>
                  </a:ext>
                </a:extLst>
              </a:tr>
              <a:tr h="550173">
                <a:tc>
                  <a:txBody>
                    <a:bodyPr/>
                    <a:lstStyle/>
                    <a:p>
                      <a:r>
                        <a:rPr lang="it-IT" dirty="0"/>
                        <a:t>3186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866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2561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4000AA9-2AC1-478D-59BC-47F93586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9" y="1268760"/>
            <a:ext cx="5616624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1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ECA6-0230-78FA-CECA-5C390E20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-243408"/>
            <a:ext cx="7772400" cy="1143000"/>
          </a:xfrm>
        </p:spPr>
        <p:txBody>
          <a:bodyPr/>
          <a:lstStyle/>
          <a:p>
            <a:r>
              <a:rPr lang="it-IT" dirty="0" err="1"/>
              <a:t>Chromatin</a:t>
            </a:r>
            <a:r>
              <a:rPr lang="it-IT" dirty="0"/>
              <a:t> </a:t>
            </a:r>
            <a:r>
              <a:rPr lang="it-IT" dirty="0" err="1"/>
              <a:t>states</a:t>
            </a:r>
            <a:r>
              <a:rPr lang="it-IT" dirty="0"/>
              <a:t> under </a:t>
            </a:r>
            <a:r>
              <a:rPr lang="it-IT" dirty="0" err="1"/>
              <a:t>my</a:t>
            </a:r>
            <a:r>
              <a:rPr lang="it-IT" dirty="0"/>
              <a:t> </a:t>
            </a:r>
            <a:r>
              <a:rPr lang="it-IT" dirty="0" err="1"/>
              <a:t>peaks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E0D4C-D0E5-E0F5-9848-5609FBA27E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endParaRPr lang="it-IT" altLang="en-US" dirty="0"/>
          </a:p>
          <a:p>
            <a:r>
              <a:rPr lang="it-IT" altLang="en-US" dirty="0"/>
              <a:t>ANNO ACCADEMICO 2023-24</a:t>
            </a:r>
          </a:p>
        </p:txBody>
      </p:sp>
      <p:pic>
        <p:nvPicPr>
          <p:cNvPr id="7" name="Content Placeholder 6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B2A29EAD-D360-3C6B-A42C-6AD751E3F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80727"/>
            <a:ext cx="4392488" cy="5047461"/>
          </a:xfrm>
        </p:spPr>
      </p:pic>
      <p:pic>
        <p:nvPicPr>
          <p:cNvPr id="10" name="Picture 9" descr="A red circle with white text&#10;&#10;Description automatically generated">
            <a:extLst>
              <a:ext uri="{FF2B5EF4-FFF2-40B4-BE49-F238E27FC236}">
                <a16:creationId xmlns:a16="http://schemas.microsoft.com/office/drawing/2014/main" id="{28379A8F-109B-57A0-4C6F-FADE841C94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402" y="1340768"/>
            <a:ext cx="6190463" cy="468742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CFC74C-DEB1-EA2B-862D-1AA20E48C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847402"/>
              </p:ext>
            </p:extLst>
          </p:nvPr>
        </p:nvGraphicFramePr>
        <p:xfrm>
          <a:off x="1524000" y="2348880"/>
          <a:ext cx="6096000" cy="167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6337104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62606330"/>
                    </a:ext>
                  </a:extLst>
                </a:gridCol>
              </a:tblGrid>
              <a:tr h="557320">
                <a:tc>
                  <a:txBody>
                    <a:bodyPr/>
                    <a:lstStyle/>
                    <a:p>
                      <a:r>
                        <a:rPr lang="it-IT" dirty="0" err="1"/>
                        <a:t>Comparison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J Index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6701"/>
                  </a:ext>
                </a:extLst>
              </a:tr>
              <a:tr h="557320">
                <a:tc>
                  <a:txBody>
                    <a:bodyPr/>
                    <a:lstStyle/>
                    <a:p>
                      <a:r>
                        <a:rPr lang="it-IT" dirty="0" err="1"/>
                        <a:t>Merged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0.104767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60505"/>
                  </a:ext>
                </a:extLst>
              </a:tr>
              <a:tr h="557320">
                <a:tc>
                  <a:txBody>
                    <a:bodyPr/>
                    <a:lstStyle/>
                    <a:p>
                      <a:r>
                        <a:rPr lang="it-IT" dirty="0"/>
                        <a:t>Rep1Rep2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0.0615417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031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16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8C8-BD89-52DD-2A74-F176B451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UCSC </a:t>
            </a:r>
            <a:r>
              <a:rPr lang="it-IT" dirty="0" err="1"/>
              <a:t>visualization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B3E2F-87AF-C714-3BAF-F3C10F3C8E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28184" y="6254118"/>
            <a:ext cx="2565400" cy="457200"/>
          </a:xfrm>
        </p:spPr>
        <p:txBody>
          <a:bodyPr/>
          <a:lstStyle/>
          <a:p>
            <a:r>
              <a:rPr lang="it-IT" altLang="en-US" dirty="0"/>
              <a:t>   </a:t>
            </a:r>
          </a:p>
          <a:p>
            <a:r>
              <a:rPr lang="it-IT" altLang="en-US" dirty="0"/>
              <a:t>             </a:t>
            </a:r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r>
              <a:rPr lang="it-IT" altLang="en-US" dirty="0"/>
              <a:t> </a:t>
            </a:r>
          </a:p>
          <a:p>
            <a:r>
              <a:rPr lang="it-IT" altLang="en-US" dirty="0"/>
              <a:t>              ANNO ACCADEMICO 2023-24</a:t>
            </a:r>
          </a:p>
          <a:p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9DBABF0-5273-1816-10C4-535EF43C8C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5340"/>
            <a:ext cx="8388424" cy="232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27068C-34B5-9A0C-E44A-5B0AB141FADF}"/>
              </a:ext>
            </a:extLst>
          </p:cNvPr>
          <p:cNvSpPr txBox="1"/>
          <p:nvPr/>
        </p:nvSpPr>
        <p:spPr>
          <a:xfrm>
            <a:off x="-9266" y="860129"/>
            <a:ext cx="2970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Auto </a:t>
            </a:r>
            <a:r>
              <a:rPr lang="it-IT" sz="1800" dirty="0" err="1"/>
              <a:t>regulation</a:t>
            </a:r>
            <a:r>
              <a:rPr lang="it-IT" sz="1800" dirty="0"/>
              <a:t> of ATF5</a:t>
            </a:r>
            <a:endParaRPr lang="en-GB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256E31-8C1F-5959-5A20-4DF7D5193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2" y="1735910"/>
            <a:ext cx="8316416" cy="2747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A2BAE9-F081-F45B-AE4C-80E745D9B819}"/>
              </a:ext>
            </a:extLst>
          </p:cNvPr>
          <p:cNvSpPr txBox="1"/>
          <p:nvPr/>
        </p:nvSpPr>
        <p:spPr>
          <a:xfrm>
            <a:off x="1937350" y="1246911"/>
            <a:ext cx="473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ATF4 </a:t>
            </a:r>
            <a:r>
              <a:rPr lang="it-IT" sz="1800" dirty="0" err="1"/>
              <a:t>binding</a:t>
            </a:r>
            <a:r>
              <a:rPr lang="it-IT" sz="1800" dirty="0"/>
              <a:t> site under </a:t>
            </a:r>
            <a:r>
              <a:rPr lang="it-IT" sz="1800" dirty="0" err="1"/>
              <a:t>my</a:t>
            </a:r>
            <a:r>
              <a:rPr lang="it-IT" sz="1800" dirty="0"/>
              <a:t> </a:t>
            </a:r>
            <a:r>
              <a:rPr lang="it-IT" sz="1800" dirty="0" err="1"/>
              <a:t>peaks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95752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7FD6-5A2E-4957-50CC-5A95ABCB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UCSC </a:t>
            </a:r>
            <a:r>
              <a:rPr lang="it-IT" dirty="0" err="1"/>
              <a:t>visualization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EA677-C136-CF2E-1B92-41715512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29" y="955576"/>
            <a:ext cx="2808312" cy="457200"/>
          </a:xfrm>
        </p:spPr>
        <p:txBody>
          <a:bodyPr/>
          <a:lstStyle/>
          <a:p>
            <a:pPr marL="0" indent="0">
              <a:buNone/>
            </a:pP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My </a:t>
            </a: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peaks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sz="18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it-IT" sz="1800" dirty="0" err="1">
                <a:latin typeface="Arial" panose="020B0604020202020204" pitchFamily="34" charset="0"/>
                <a:cs typeface="Arial" panose="020B0604020202020204" pitchFamily="34" charset="0"/>
              </a:rPr>
              <a:t>encode</a:t>
            </a:r>
            <a:endParaRPr lang="it-IT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E10237-5709-EDD2-6933-B92F93E81B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r>
              <a:rPr lang="it-IT" altLang="en-US" dirty="0"/>
              <a:t> </a:t>
            </a:r>
          </a:p>
          <a:p>
            <a:r>
              <a:rPr lang="it-IT" altLang="en-US" dirty="0"/>
              <a:t> ANNO ACCADEMICO 2023-24</a:t>
            </a:r>
          </a:p>
          <a:p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F3BDB1-4BC7-B27D-D48F-B545077D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12776"/>
            <a:ext cx="7776864" cy="25202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144454-2C23-6783-EAD9-6A97D71BF8E9}"/>
              </a:ext>
            </a:extLst>
          </p:cNvPr>
          <p:cNvSpPr txBox="1"/>
          <p:nvPr/>
        </p:nvSpPr>
        <p:spPr>
          <a:xfrm>
            <a:off x="107504" y="1861851"/>
            <a:ext cx="3744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1800" dirty="0" err="1">
                <a:cs typeface="Arial" panose="020B0604020202020204" pitchFamily="34" charset="0"/>
              </a:rPr>
              <a:t>Encode</a:t>
            </a:r>
            <a:r>
              <a:rPr lang="it-IT" sz="1800" dirty="0">
                <a:cs typeface="Arial" panose="020B0604020202020204" pitchFamily="34" charset="0"/>
              </a:rPr>
              <a:t> </a:t>
            </a:r>
            <a:r>
              <a:rPr lang="it-IT" sz="1800" dirty="0" err="1">
                <a:cs typeface="Arial" panose="020B0604020202020204" pitchFamily="34" charset="0"/>
              </a:rPr>
              <a:t>peaks</a:t>
            </a:r>
            <a:r>
              <a:rPr lang="it-IT" sz="1800" dirty="0">
                <a:cs typeface="Arial" panose="020B0604020202020204" pitchFamily="34" charset="0"/>
              </a:rPr>
              <a:t> </a:t>
            </a:r>
            <a:r>
              <a:rPr lang="it-IT" sz="1800" dirty="0" err="1">
                <a:cs typeface="Arial" panose="020B0604020202020204" pitchFamily="34" charset="0"/>
              </a:rPr>
              <a:t>not</a:t>
            </a:r>
            <a:r>
              <a:rPr lang="it-IT" sz="1800" dirty="0">
                <a:cs typeface="Arial" panose="020B0604020202020204" pitchFamily="34" charset="0"/>
              </a:rPr>
              <a:t> in </a:t>
            </a:r>
            <a:r>
              <a:rPr lang="it-IT" sz="1800" dirty="0" err="1">
                <a:cs typeface="Arial" panose="020B0604020202020204" pitchFamily="34" charset="0"/>
              </a:rPr>
              <a:t>my</a:t>
            </a:r>
            <a:r>
              <a:rPr lang="it-IT" sz="1800" dirty="0">
                <a:cs typeface="Arial" panose="020B0604020202020204" pitchFamily="34" charset="0"/>
              </a:rPr>
              <a:t> </a:t>
            </a:r>
            <a:r>
              <a:rPr lang="it-IT" sz="1800" dirty="0" err="1">
                <a:cs typeface="Arial" panose="020B0604020202020204" pitchFamily="34" charset="0"/>
              </a:rPr>
              <a:t>results</a:t>
            </a:r>
            <a:endParaRPr lang="it-IT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201F45-B7D1-9C7D-3472-338609138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8" y="2436979"/>
            <a:ext cx="7956376" cy="22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7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BEC5-4353-4CDB-FBC8-33C39B23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Motif</a:t>
            </a:r>
            <a:r>
              <a:rPr lang="it-IT" dirty="0"/>
              <a:t> </a:t>
            </a:r>
            <a:r>
              <a:rPr lang="it-IT" dirty="0" err="1"/>
              <a:t>Enrichment</a:t>
            </a:r>
            <a:r>
              <a:rPr lang="it-IT" dirty="0"/>
              <a:t> Analysis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24BE65-2127-8075-7D2F-8928AA460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84" y="977218"/>
            <a:ext cx="5060711" cy="22395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92645-6245-F9DB-A3FD-3DAD5709E0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r>
              <a:rPr lang="it-IT" altLang="en-US" dirty="0"/>
              <a:t> </a:t>
            </a:r>
          </a:p>
          <a:p>
            <a:r>
              <a:rPr lang="it-IT" altLang="en-US" dirty="0"/>
              <a:t> ANNO ACCADEMICO 2023-24</a:t>
            </a:r>
          </a:p>
          <a:p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75486-3F47-E937-A70F-7EEA13096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378" y="1282507"/>
            <a:ext cx="5004299" cy="4487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FBA953-F6AE-A1C7-E30C-737F12BC5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500068"/>
            <a:ext cx="4066254" cy="3262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4CB404-7DB7-396A-A2FB-9A2C7AEBE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419" y="2708920"/>
            <a:ext cx="3879620" cy="26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0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0FC1-33E1-D190-4867-C1C5E8C3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Motif</a:t>
            </a:r>
            <a:r>
              <a:rPr lang="it-IT" dirty="0"/>
              <a:t> </a:t>
            </a:r>
            <a:r>
              <a:rPr lang="it-IT" dirty="0" err="1"/>
              <a:t>enrichment</a:t>
            </a:r>
            <a:r>
              <a:rPr lang="it-IT" dirty="0"/>
              <a:t> </a:t>
            </a:r>
            <a:r>
              <a:rPr lang="it-IT" dirty="0" err="1"/>
              <a:t>analysis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AE443B-FE72-DFD9-FDAB-6F7BBC102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980728"/>
            <a:ext cx="3888431" cy="273630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A5894-0EE8-019F-A902-AC2663CE17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altLang="en-US" dirty="0" err="1"/>
              <a:t>Bioinformatics</a:t>
            </a:r>
            <a:r>
              <a:rPr lang="it-IT" altLang="en-US" dirty="0"/>
              <a:t> for </a:t>
            </a:r>
            <a:r>
              <a:rPr lang="it-IT" altLang="en-US" dirty="0" err="1"/>
              <a:t>computational</a:t>
            </a:r>
            <a:r>
              <a:rPr lang="it-IT" altLang="en-US" dirty="0"/>
              <a:t> </a:t>
            </a:r>
            <a:r>
              <a:rPr lang="it-IT" altLang="en-US" dirty="0" err="1"/>
              <a:t>genomics</a:t>
            </a:r>
            <a:r>
              <a:rPr lang="it-IT" altLang="en-US" dirty="0"/>
              <a:t> </a:t>
            </a:r>
          </a:p>
          <a:p>
            <a:r>
              <a:rPr lang="it-IT" altLang="en-US" dirty="0"/>
              <a:t>ANNO ACCADEMICO 2023-24</a:t>
            </a:r>
          </a:p>
          <a:p>
            <a:endParaRPr lang="it-IT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FA78CA-05F6-639C-06CF-87B93CDB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00" y="2259369"/>
            <a:ext cx="6233700" cy="32006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6F7272B-4F4F-15D3-7471-134D0A436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894" y="2623129"/>
            <a:ext cx="5715000" cy="343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43AB56-9F21-68F1-1750-724DEE8EB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2800538"/>
            <a:ext cx="3132091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a di Office">
      <a:majorFont>
        <a:latin typeface="Trebuchet MS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Tema di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a di Office">
      <a:majorFont>
        <a:latin typeface="Trebuchet MS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A_PP_dipartimento_3r</Template>
  <TotalTime>21048</TotalTime>
  <Words>442</Words>
  <Application>Microsoft Office PowerPoint</Application>
  <PresentationFormat>On-screen Show (4:3)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Garamond</vt:lpstr>
      <vt:lpstr>Trebuchet MS</vt:lpstr>
      <vt:lpstr>Tema di Office</vt:lpstr>
      <vt:lpstr>Tema di Office</vt:lpstr>
      <vt:lpstr> CHIP-SEQ ANALYSIS OF ATF5</vt:lpstr>
      <vt:lpstr>ATF5</vt:lpstr>
      <vt:lpstr>Quality Control</vt:lpstr>
      <vt:lpstr>Fragment size estimation</vt:lpstr>
      <vt:lpstr>Number of Peaks</vt:lpstr>
      <vt:lpstr>My Peaks vs ENCODE results</vt:lpstr>
      <vt:lpstr>Q-values distribution in my peaks</vt:lpstr>
      <vt:lpstr>Q-values distribution in my peaks</vt:lpstr>
      <vt:lpstr>Gene-peak association</vt:lpstr>
      <vt:lpstr>Chromatin states under my peaks</vt:lpstr>
      <vt:lpstr>UCSC visualization</vt:lpstr>
      <vt:lpstr>UCSC visualization</vt:lpstr>
      <vt:lpstr>Motif Enrichment Analysis</vt:lpstr>
      <vt:lpstr>Motif enrichment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Eugenio Demartini</dc:creator>
  <cp:keywords/>
  <dc:description/>
  <cp:lastModifiedBy>Corbetta, S. (Simone)</cp:lastModifiedBy>
  <cp:revision>53</cp:revision>
  <dcterms:created xsi:type="dcterms:W3CDTF">2017-12-06T07:03:09Z</dcterms:created>
  <dcterms:modified xsi:type="dcterms:W3CDTF">2025-03-19T15:25:17Z</dcterms:modified>
  <cp:category/>
</cp:coreProperties>
</file>